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377440"/>
            <a:ext cx="6217920" cy="6217920"/>
          </a:xfrm>
          <a:prstGeom prst="ellipse">
            <a:avLst/>
          </a:prstGeom>
          <a:solidFill>
            <a:srgbClr val="FF304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206240" cy="4206240"/>
          </a:xfrm>
          <a:prstGeom prst="ellipse">
            <a:avLst/>
          </a:prstGeom>
          <a:solidFill>
            <a:srgbClr val="FF3040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480560"/>
            <a:ext cx="5120640" cy="5120640"/>
          </a:xfrm>
          <a:prstGeom prst="ellipse">
            <a:avLst/>
          </a:prstGeom>
          <a:solidFill>
            <a:srgbClr val="FF304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47088"/>
            <a:ext cx="3246120" cy="475488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470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DESIGN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libraries to </a:t>
            </a:r>
            <a:pPr indent="0" marL="0">
              <a:buNone/>
            </a:pPr>
            <a:r>
              <a:rPr lang="en-US" sz="46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</a:t>
            </a:r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future of design systems looks like in the age of AI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has changed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023360"/>
          </a:xfrm>
          <a:prstGeom prst="roundRect">
            <a:avLst>
              <a:gd name="adj" fmla="val 3409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we maintain consistency?”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library, tokenize the colors, document the rules. It worked — but it produced vaults of frozen outcomes.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4023360"/>
          </a:xfrm>
          <a:prstGeom prst="roundRect">
            <a:avLst>
              <a:gd name="adj" fmla="val 3409"/>
            </a:avLst>
          </a:prstGeom>
          <a:solidFill>
            <a:srgbClr val="2A1114"/>
          </a:solidFill>
          <a:ln w="12700">
            <a:solidFill>
              <a:srgbClr val="8A1B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0" y="265176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we encode design intelligence?”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29400" y="41148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both humans and machines can act on it. Less a museum of components — more a reasoning engine.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DESIGN SYSTEMS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design systems are maintenance traps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artifacts begin decaying the moment they ship — because the system is passive. It stores rules and waits for a human to look them up, interpret them, and apply them correctly.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8986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nobody reads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326440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flows into pages that are skipped the moment deadline pressure arrives.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69748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3200400"/>
            <a:ext cx="457200" cy="45720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8986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token audits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326440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police whether sanctioned tokens were actually used in production.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5902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Design–code drift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95604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perpetual gap between what exists in the design tool and what actually runs.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438912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4892040"/>
            <a:ext cx="457200" cy="45720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45902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by review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495604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policy-and-police model has never scaled — and it never will.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DESIGN SYSTEMS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artifacts are perishable. The logic is durable.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holds a large, multi-platform product landscape together is never the component library itself — it is the abstraction layer beneath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2606040"/>
            <a:ext cx="3566160" cy="356616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3474720"/>
            <a:ext cx="1828800" cy="182880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7" name="Text 5"/>
          <p:cNvSpPr/>
          <p:nvPr/>
        </p:nvSpPr>
        <p:spPr>
          <a:xfrm>
            <a:off x="2057400" y="3474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· Files · Artifacts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26974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perishable shell. </a:t>
            </a:r>
            <a:pPr indent="0" marL="0">
              <a:buNone/>
            </a:pPr>
            <a:r>
              <a:rPr lang="en-US" sz="16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libraries, sticker sheets, and frozen layouts — the layer organizations over-invested in for a decade.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38862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 core. </a:t>
            </a:r>
            <a:pPr indent="0" marL="0">
              <a:buNone/>
            </a:pPr>
            <a:r>
              <a:rPr lang="en-US" sz="160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reasoning: principles, constraints, variance ranges, and invariants from which correct interfaces can be derived rather than retrieved.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507492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changes. </a:t>
            </a:r>
            <a:pPr indent="0" marL="0">
              <a:buNone/>
            </a:pPr>
            <a:r>
              <a:rPr lang="en-US" sz="16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system does not merely store rules — it enforces and executes them. Passive repository → active participant.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DESIGN SYSTEMS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drawing boxes to defining intent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system encodes reasoning instead of storing artifacts, four things change.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87752" cy="3566160"/>
          </a:xfrm>
          <a:prstGeom prst="roundRect">
            <a:avLst>
              <a:gd name="adj" fmla="val 5300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are generated,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assembled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just-in-time for the user in front of them.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2377440"/>
            <a:ext cx="2587752" cy="3566160"/>
          </a:xfrm>
          <a:prstGeom prst="roundRect">
            <a:avLst>
              <a:gd name="adj" fmla="val 5300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0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becomes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and invisible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45720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are corrected at the moment of creation.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2587752" cy="3566160"/>
          </a:xfrm>
          <a:prstGeom prst="roundRect">
            <a:avLst>
              <a:gd name="adj" fmla="val 5300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92240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disappears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5720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Design-to-code translation becomes a sync.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52560" y="2377440"/>
            <a:ext cx="2587752" cy="3566160"/>
          </a:xfrm>
          <a:prstGeom prst="roundRect">
            <a:avLst>
              <a:gd name="adj" fmla="val 5300"/>
            </a:avLst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326880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itself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26880" y="45720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sanctioned path becomes the fastest path.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DESIGN SYSTEMS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01 –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and invisible governance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3261"/>
            </a:avLst>
          </a:prstGeom>
          <a:solidFill>
            <a:srgbClr val="2A1114"/>
          </a:solidFill>
          <a:ln w="12700">
            <a:solidFill>
              <a:srgbClr val="8A1B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are generated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houses the logic of the parts — how inputs are labeled, where actions live, how density adapts — and composes the interface on demand.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and a novice receive different renderings of the same capability, both fully on-brand, because the brand lives in the rules, not in any frozen layout.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stop designing the settings page and start guaranteeing that any settings page the system produces is correct.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4206240"/>
          </a:xfrm>
          <a:prstGeom prst="roundRect">
            <a:avLst>
              <a:gd name="adj" fmla="val 3261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103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invisible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29400" y="26060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flagging an inaccessible color in a review three weeks later, the system corrects it at the moment of creation — snapping to the nearest compliant token.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stops being an audit step and becomes a compilation requirement: a violation simply cannot ship.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regulation now enforced in major markets, compliance becomes a byproduct of using the system — not a tax paid on top of it.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DESIGN SYSTEMS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03 –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of handoff — and of forced adoption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3261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disappears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was always the largest point of failure — a lossy translation between pixels and props.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of truth migrates to the specification layer that feeds both design and code. A designer adjusts a component; the system generates conformant, typed production code. The handoff becomes a sync.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tool is repositioned from vault to viewport: not where truth is stored, but one lens onto the live system.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4206240"/>
          </a:xfrm>
          <a:prstGeom prst="roundRect">
            <a:avLst>
              <a:gd name="adj" fmla="val 3261"/>
            </a:avLst>
          </a:prstGeom>
          <a:solidFill>
            <a:srgbClr val="2A1114"/>
          </a:solidFill>
          <a:ln w="12700">
            <a:solidFill>
              <a:srgbClr val="8A1B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103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solves itself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29400" y="26060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problem in design systems was never technical — it was behavioral.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system inverts the incentive: it anticipates the right component before the designer searches for it, pre-configured with correct states and accessibility attributes.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stops being a compliance exercise and becomes the path of least resistance. Teams use the system because working without it is slower.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DESIGN SYSTEMS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target system looks like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47672"/>
            <a:ext cx="457200" cy="45720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Standardized, layered tokens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92040" y="1856232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 → semantics → components. Open standards make the brand DNA render faithfully anywhere — and legible to machines.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843784"/>
            <a:ext cx="457200" cy="45720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7706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orchestration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92040" y="2752344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of primitives that sub-brands govern through overrides, not forks. Global identity, local freedom.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739896"/>
            <a:ext cx="457200" cy="45720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66674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system, exposed to agents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92040" y="3648456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query a live, structured representation of tokens, rules, and constraints — so generated output stays 100% on-system.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636008"/>
            <a:ext cx="457200" cy="45720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5628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 for design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92040" y="4544568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change triggers a pull request, regenerates docs, and notifies teams. Agents patrol the pipeline for drift.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2A1114"/>
          </a:solidFill>
          <a:ln w="12700">
            <a:solidFill>
              <a:srgbClr val="8A1B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532120"/>
            <a:ext cx="457200" cy="45720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4589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of the AI itself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892040" y="5440680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contexts and guardrails bound what agents may change. The system becomes the constitution that keeps generative output lawful.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DESIGN SYSTEMS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ROLE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pixel pusher to system curator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layout generation and code translation are automated, the valuable work moves up a level of abstraction. The value of design migrates from production speed to strategic definition — a promotion, not a demotion.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587752" cy="3200400"/>
          </a:xfrm>
          <a:prstGeom prst="roundRect">
            <a:avLst>
              <a:gd name="adj" fmla="val 5300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physics,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object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39776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motion works across the product; the system applies it everywhere.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2697480"/>
            <a:ext cx="2587752" cy="3200400"/>
          </a:xfrm>
          <a:prstGeom prst="roundRect">
            <a:avLst>
              <a:gd name="adj" fmla="val 5300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3639312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voice,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copy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39312" y="39776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tone and language rules; generation writes the individual messages.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697480"/>
            <a:ext cx="2587752" cy="3200400"/>
          </a:xfrm>
          <a:prstGeom prst="roundRect">
            <a:avLst>
              <a:gd name="adj" fmla="val 5300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variance ranges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39776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invariants and the room to play — what makes a thing correct.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52560" y="2697480"/>
            <a:ext cx="2587752" cy="3200400"/>
          </a:xfrm>
          <a:prstGeom prst="roundRect">
            <a:avLst>
              <a:gd name="adj" fmla="val 5300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308592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the quality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08592" y="39776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generated output for what no rule captures: delight, empathy, taste.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DESIGN SYSTEMS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path from library to engine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548640" cy="54864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029968" y="2286000"/>
            <a:ext cx="155448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2834640"/>
            <a:ext cx="2157984" cy="3108960"/>
          </a:xfrm>
          <a:prstGeom prst="roundRect">
            <a:avLst>
              <a:gd name="adj" fmla="val 5085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063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37947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design–code drift. Inventory rogue components and hard-coded values — you cannot automate what you have not cleaned.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12464" y="2011680"/>
            <a:ext cx="548640" cy="54864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11" name="Text 9"/>
          <p:cNvSpPr/>
          <p:nvPr/>
        </p:nvSpPr>
        <p:spPr>
          <a:xfrm>
            <a:off x="371246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0832" y="2286000"/>
            <a:ext cx="155448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889504" y="2834640"/>
            <a:ext cx="2157984" cy="3108960"/>
          </a:xfrm>
          <a:prstGeom prst="roundRect">
            <a:avLst>
              <a:gd name="adj" fmla="val 5085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3090672" y="3063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tokens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090672" y="37947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layered primitive → semantic → component model. Nothing downstream works without a clean semantic foundation.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53328" y="2011680"/>
            <a:ext cx="548640" cy="54864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17" name="Text 15"/>
          <p:cNvSpPr/>
          <p:nvPr/>
        </p:nvSpPr>
        <p:spPr>
          <a:xfrm>
            <a:off x="605332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11696" y="2286000"/>
            <a:ext cx="155448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230368" y="2834640"/>
            <a:ext cx="2157984" cy="3108960"/>
          </a:xfrm>
          <a:prstGeom prst="roundRect">
            <a:avLst>
              <a:gd name="adj" fmla="val 5085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5431536" y="3063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pipeline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31536" y="37947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design, code, and project tooling into an automated flow — design changes ship with the rigor of code commits.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94192" y="2011680"/>
            <a:ext cx="548640" cy="54864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052560" y="2286000"/>
            <a:ext cx="155448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571232" y="2834640"/>
            <a:ext cx="2157984" cy="3108960"/>
          </a:xfrm>
          <a:prstGeom prst="roundRect">
            <a:avLst>
              <a:gd name="adj" fmla="val 5085"/>
            </a:avLst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3063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the agents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772400" y="37947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explicit AI governance model: what agents may touch, in which contexts, within which guardrails.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735056" y="2011680"/>
            <a:ext cx="548640" cy="548640"/>
          </a:xfrm>
          <a:prstGeom prst="ellipse">
            <a:avLst/>
          </a:prstGeom>
          <a:solidFill>
            <a:srgbClr val="FF3040"/>
          </a:solidFill>
          <a:ln/>
        </p:spPr>
      </p:sp>
      <p:sp>
        <p:nvSpPr>
          <p:cNvPr id="29" name="Text 27"/>
          <p:cNvSpPr/>
          <p:nvPr/>
        </p:nvSpPr>
        <p:spPr>
          <a:xfrm>
            <a:off x="10735056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912096" y="2834640"/>
            <a:ext cx="2157984" cy="3108960"/>
          </a:xfrm>
          <a:prstGeom prst="roundRect">
            <a:avLst>
              <a:gd name="adj" fmla="val 5085"/>
            </a:avLst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10113264" y="3063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docs machine-readable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113264" y="37947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documentation as living infrastructure — the operating manual for humans and a fleet of agents alike.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steps is exotic. Together, they convert a library into an engine.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DESIGN SYSTEMS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840480"/>
            <a:ext cx="5486400" cy="5486400"/>
          </a:xfrm>
          <a:prstGeom prst="ellipse">
            <a:avLst/>
          </a:prstGeom>
          <a:solidFill>
            <a:srgbClr val="FF304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846320"/>
            <a:ext cx="3474720" cy="3474720"/>
          </a:xfrm>
          <a:prstGeom prst="ellipse">
            <a:avLst/>
          </a:prstGeom>
          <a:solidFill>
            <a:srgbClr val="FF3040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OUTCOME, IN ONE SENTENCE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systems that endure will encode why the design is the way it is — so that any interface, generated by any hand or any agent, is </a:t>
            </a:r>
            <a:pPr indent="0" marL="0">
              <a:buNone/>
            </a:pPr>
            <a:r>
              <a:rPr lang="en-US" sz="33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 by construction</a:t>
            </a:r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static library taught us the value of consistency.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living system will teach us the value of intelligence.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is dead. Long live the system.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2026-08-18T11:53:09Z</dcterms:created>
  <dcterms:modified xsi:type="dcterms:W3CDTF">2026-08-18T11:53:09Z</dcterms:modified>
</cp:coreProperties>
</file>